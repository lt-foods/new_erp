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1">
                <a:solidFill>
                  <a:srgbClr val="0B8F6E"/>
                </a:solidFill>
                <a:latin typeface="Microsoft JhengHei"/>
              </a:rPr>
              <a:t>AI × NO-CODE 開發分享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4200" b="1">
                <a:solidFill>
                  <a:srgbClr val="1B2330"/>
                </a:solidFill>
                <a:latin typeface="Microsoft JhengHei"/>
              </a:rPr>
              <a:t>我用 AI、</a:t>
            </a:r>
            <a:r>
              <a:rPr sz="4200" b="1">
                <a:solidFill>
                  <a:srgbClr val="0B8F6E"/>
                </a:solidFill>
                <a:latin typeface="Microsoft JhengHei"/>
              </a:rPr>
              <a:t>0 行手寫程式碼</a:t>
            </a:r>
            <a:r>
              <a:rPr sz="4200" b="1">
                <a:solidFill>
                  <a:srgbClr val="1B2330"/>
                </a:solidFill>
                <a:latin typeface="Microsoft JhengHei"/>
              </a:rPr>
              <a:t>，</a:t>
            </a:r>
          </a:p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4200" b="1">
                <a:solidFill>
                  <a:srgbClr val="1B2330"/>
                </a:solidFill>
                <a:latin typeface="Microsoft JhengHei"/>
              </a:rPr>
              <a:t>做出一套團購店 ERP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不會寫程式，也能當「產品負責人 + 驗收者」。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真正的關鍵，是一個 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，加上一套讓它可靠運轉的 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harness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先看結果：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約 7 週</a:t>
            </a:r>
            <a:r>
              <a:rPr sz="3000" b="1">
                <a:solidFill>
                  <a:srgbClr val="1B2330"/>
                </a:solidFill>
                <a:latin typeface="Microsoft JhengHei"/>
              </a:rPr>
              <a:t>，從零到上線維運中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52,000+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行 TypeScript 程式碼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（每一行都是 AI 寫的）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54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個後台頁面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訂單／採購／撿貨／取貨／庫存／財務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438+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 Pull Request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全部由 AI 發、我驗收合併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311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支資料庫 migration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（Supabase / PostgreSQL）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個前端 App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管理後台 + 會員端（LINE LIFF）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148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份文件：PRD、DB 設計、E2E 測試、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交接，也是 AI 寫的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場景：團購店 ERP — 總倉 1 + 門市 + 上萬 SKU，開團、下單、採購、進貨、撿貨、取貨全流程。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分工很簡單：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我出腦袋，AI 出手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002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B4690E"/>
                </a:solidFill>
                <a:latin typeface="Microsoft JhengHei"/>
              </a:rPr>
              <a:t>我做的事（不碰程式碼）</a:t>
            </a: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用白話描述需求、講業務流程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回答 AI 的提問、做取捨決策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實際打開系統點點看、驗收功能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把不對的地方用白話回報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002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0B8F6E"/>
                </a:solidFill>
                <a:latin typeface="Microsoft JhengHei"/>
              </a:rPr>
              <a:t>AI 做的事（全部的技術活）</a:t>
            </a: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把需求整理成 PRD、設計資料庫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寫前後端程式碼、發 PR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寫測試、部署 DB migration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寫文件、交接給下一次對話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核心觀念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2330"/>
                </a:solidFill>
                <a:latin typeface="Microsoft JhengHei"/>
              </a:rPr>
              <a:t>整套系統，就是這個</a:t>
            </a:r>
            <a:r>
              <a:rPr sz="2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2800" b="1">
                <a:solidFill>
                  <a:srgbClr val="1B2330"/>
                </a:solidFill>
                <a:latin typeface="Microsoft JhengHei"/>
              </a:rPr>
              <a:t>週而復始</a:t>
            </a:r>
          </a:p>
        </p:txBody>
      </p:sp>
      <p:sp>
        <p:nvSpPr>
          <p:cNvPr id="4" name="Donut 3"/>
          <p:cNvSpPr/>
          <p:nvPr/>
        </p:nvSpPr>
        <p:spPr>
          <a:xfrm>
            <a:off x="4212640" y="1792223"/>
            <a:ext cx="3767328" cy="3767328"/>
          </a:xfrm>
          <a:prstGeom prst="donut">
            <a:avLst>
              <a:gd name="adj" fmla="val 13834"/>
            </a:avLst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 rot="6750000">
            <a:off x="6580262" y="2052932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9450000">
            <a:off x="7458656" y="2931325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2150000">
            <a:off x="7458656" y="4173562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4850000">
            <a:off x="6580262" y="5051955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7550000">
            <a:off x="5338026" y="5051955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20250000">
            <a:off x="4459632" y="4173562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350000">
            <a:off x="4459632" y="2931325"/>
            <a:ext cx="274320" cy="24688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4050000">
            <a:off x="5338026" y="2052932"/>
            <a:ext cx="274320" cy="246888"/>
          </a:xfrm>
          <a:prstGeom prst="triangl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17312" y="2596896"/>
            <a:ext cx="2157984" cy="21579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EF1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600" b="1">
                <a:solidFill>
                  <a:srgbClr val="0B8F6E"/>
                </a:solidFill>
                <a:latin typeface="Microsoft JhengHei"/>
              </a:rPr>
              <a:t>閉環</a:t>
            </a:r>
          </a:p>
          <a:p>
            <a:pPr algn="ctr">
              <a:spcAft>
                <a:spcPts val="300"/>
              </a:spcAft>
            </a:pPr>
            <a:r>
              <a:rPr sz="1000" b="1">
                <a:solidFill>
                  <a:srgbClr val="7B8597"/>
                </a:solidFill>
                <a:latin typeface="Microsoft JhengHei"/>
              </a:rPr>
              <a:t>CLOSED LOOP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迭代 438 次</a:t>
            </a:r>
          </a:p>
        </p:txBody>
      </p:sp>
      <p:sp>
        <p:nvSpPr>
          <p:cNvPr id="14" name="Oval 13"/>
          <p:cNvSpPr/>
          <p:nvPr/>
        </p:nvSpPr>
        <p:spPr>
          <a:xfrm>
            <a:off x="5885992" y="1842515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7033669" y="2317899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7509052" y="3465575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7033669" y="4613252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5885992" y="5088636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5</a:t>
            </a:r>
          </a:p>
        </p:txBody>
      </p:sp>
      <p:sp>
        <p:nvSpPr>
          <p:cNvPr id="19" name="Oval 18"/>
          <p:cNvSpPr/>
          <p:nvPr/>
        </p:nvSpPr>
        <p:spPr>
          <a:xfrm>
            <a:off x="4738316" y="4613252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6</a:t>
            </a:r>
          </a:p>
        </p:txBody>
      </p:sp>
      <p:sp>
        <p:nvSpPr>
          <p:cNvPr id="20" name="Oval 19"/>
          <p:cNvSpPr/>
          <p:nvPr/>
        </p:nvSpPr>
        <p:spPr>
          <a:xfrm>
            <a:off x="4262932" y="3465575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7</a:t>
            </a:r>
          </a:p>
        </p:txBody>
      </p:sp>
      <p:sp>
        <p:nvSpPr>
          <p:cNvPr id="21" name="Oval 20"/>
          <p:cNvSpPr/>
          <p:nvPr/>
        </p:nvSpPr>
        <p:spPr>
          <a:xfrm>
            <a:off x="4738316" y="2317899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5A623"/>
                </a:solidFill>
                <a:latin typeface="Microsoft JhengHe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0464" y="914399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需求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0105" y="1819479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寫文件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728" y="3474719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開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0105" y="5129960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寫測試項目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0464" y="6035040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開發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823" y="5129960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驗證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35200" y="3474719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1B2330"/>
                </a:solidFill>
                <a:latin typeface="Microsoft JhengHei"/>
              </a:rPr>
              <a:t>部署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20823" y="1819479"/>
            <a:ext cx="20116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B4690E"/>
                </a:solidFill>
                <a:latin typeface="Microsoft JhengHei"/>
              </a:rPr>
              <a:t>更新 Wiki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8251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每一圈都小、都能驗收、錯了能退回 — 閉環讓品質可控；驗收與更新後的 wiki 又回流成下一輪需求。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核心觀念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讓閉環自己穩定轉起來的，是 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閉環是「怎麼做」；harness 是那套讓 AI 能可靠、重複、自動把一圈跑完的</a:t>
            </a:r>
            <a:r>
              <a:rPr sz="1500" b="1">
                <a:solidFill>
                  <a:srgbClr val="1B2330"/>
                </a:solidFill>
                <a:latin typeface="Microsoft JhengHei"/>
              </a:rPr>
              <a:t>支架與工具鏈</a:t>
            </a:r>
            <a:r>
              <a:rPr sz="1500" b="0">
                <a:solidFill>
                  <a:srgbClr val="5B6678"/>
                </a:solidFill>
                <a:latin typeface="Microsoft JhengHei"/>
              </a:rPr>
              <a:t>。沒有 harness，AI 只是聊天；有了 harness，AI 才真的能交付。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工具能力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Claude Code 本體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能讀寫檔案、跑指令、操作 git、直接開 PR — 不是只會回字，而是會動手。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長期記憶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CLAUDE.md 守則檔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每次開工先讀。踩過的雷寫進去（部署管道、改函式前先查歷史），之後不再犯。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接力棒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HANDOFF 交接文件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每段工作結束寫下進度與待辦，下一段對話無縫接手，跨對話不掉鏈。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驗收依據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E2E 測試 + 一鍵重置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14 套測試情境 + 一鍵重建測試資料，讓「驗收」有標準、可重複。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安全部署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Migration 部署管道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資料庫變更走固定、受控的方式，上線步驟一致、不靠手動硬幹。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交付單位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每次都是一個 PR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每一圈閉環都收斂成一個可審查、可回退的 PR，變更全程留痕。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閉環與 harness，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一句話分清楚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閉環 / CLOSED LOOP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B2330"/>
                </a:solidFill>
                <a:latin typeface="Microsoft JhengHei"/>
              </a:rPr>
              <a:t>是「行為」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講需求、釐清、發 PR、驗收、回報 — 一圈一圈、每圈都收斂的工作節奏。它決定了品質怎麼被控制住。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45920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B4690E"/>
                </a:solidFill>
                <a:latin typeface="Microsoft JhengHei"/>
              </a:rPr>
              <a:t>HARNESS / 支架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B2330"/>
                </a:solidFill>
                <a:latin typeface="Microsoft JhengHei"/>
              </a:rPr>
              <a:t>是「機器」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工具、守則、交接、測試、部署管道 — 讓那一圈能可靠、自動、重複跑完的底層裝置。它決定了閉環跑得動、跑得久。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先有 harness 撐住，閉環才轉得起來；閉環轉得越多，又回頭把 harness 養得越好。兩者互相加強。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第一步不是寫程式，是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陪 AI 把需求聊透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開工前先跟 AI 對談，產出各模組 PRD（產品需求文件）：商品、會員、庫存、採購、銷售、取貨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AI 根據 PRD 先設計好資料庫架構，再寫第一行程式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需求文件用「我的語言」寫 — 我看得懂、改得動，AI 照著做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心得：前期把「要做什麼」講清楚，比急著要它寫 code 重要十倍。這也是閉環的第一步。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我跟 AI 的對話，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就像在跟工程師同事講話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「取貨單幫我改成 80mm 熱感紙的小白單版型」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改好收據版型，發 PR #430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「列表的『載入中』太陽春，全部改成轉圈圈」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一次改了 8 個列表頁的 loading 狀態，PR #427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「貨還沒到齊的訂單，已到的品項要可以先取」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把取貨邏輯從「整單」改成「品項層級」，含 DB 變更，PR #423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從調一個按鈕，到改整套取貨邏輯，講法都一樣：說清楚「我要什麼」，剩下交給閉環。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現場演示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實際看一次：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我跟 AI 是怎麼互動的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1691640"/>
            <a:ext cx="7772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C2CAD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spcAft>
                <a:spcPts val="1200"/>
              </a:spcAft>
            </a:pPr>
            <a:r>
              <a:rPr sz="1200" b="1">
                <a:solidFill>
                  <a:srgbClr val="B4690E"/>
                </a:solidFill>
                <a:latin typeface="Microsoft JhengHei"/>
              </a:rPr>
              <a:t>影片待補 PLACEHOLDER</a:t>
            </a:r>
          </a:p>
          <a:p>
            <a:pPr algn="ctr">
              <a:spcAft>
                <a:spcPts val="1200"/>
              </a:spcAft>
            </a:pPr>
            <a:r>
              <a:rPr sz="2200" b="1">
                <a:solidFill>
                  <a:srgbClr val="5B6678"/>
                </a:solidFill>
                <a:latin typeface="Microsoft JhengHei"/>
              </a:rPr>
              <a:t>［ 互動演示影片放這裡 ］</a:t>
            </a:r>
          </a:p>
          <a:p>
            <a:pPr algn="ctr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7B8597"/>
                </a:solidFill>
                <a:latin typeface="Microsoft JhengHei"/>
              </a:rPr>
              <a:t>一段真實對話：我用白話講需求，AI 釐清、寫程式、發 PR，我驗收 —
把前面講的「閉環」實際跑一次給大家看。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一路下來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學到的事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0020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0B8F6E"/>
                </a:solidFill>
                <a:latin typeface="Microsoft JhengHei"/>
              </a:rPr>
              <a:t>有用的習慣</a:t>
            </a: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一次只要一個功能，小步快跑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需求講「為什麼」，不只講「做什麼」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每個 PR 都親手操作驗收，不盲目合併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出錯時描述「現象」，讓 AI 自己查原因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0020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B4690E"/>
                </a:solidFill>
                <a:latin typeface="Microsoft JhengHei"/>
              </a:rPr>
              <a:t>要注意的坑</a:t>
            </a: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需求講得模糊，AI 會自己腦補，要靠驗收抓出來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同個地方改多次，要提醒 AI 別蓋掉之前的修正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AI 說「做完了」不等於真的好了，驗收不能省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如果你也想試：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三個建議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把自己當 PM，不是工程師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你的價值是懂業務、會驗收，程式碼交給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88036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先建立閉環，再追求速度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把「需求、PR、驗收」一圈跑順，再放大功能範圍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把經驗養進 harness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守則檔、交接、測試，讓 AI 從「臨時工」變「老員工」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門檻不是會不會寫程式，是能不能把需求講清楚、願不願意認真驗收。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1">
                <a:solidFill>
                  <a:srgbClr val="0B8F6E"/>
                </a:solidFill>
                <a:latin typeface="Microsoft JhengHei"/>
              </a:rPr>
              <a:t>TAKEAWAY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400" b="1">
                <a:solidFill>
                  <a:srgbClr val="1B2330"/>
                </a:solidFill>
                <a:latin typeface="Microsoft JhengHei"/>
              </a:rPr>
              <a:t>寫程式的時代沒有結束，</a:t>
            </a:r>
          </a:p>
          <a:p>
            <a:pPr algn="l">
              <a:lnSpc>
                <a:spcPct val="125000"/>
              </a:lnSpc>
              <a:spcAft>
                <a:spcPts val="2200"/>
              </a:spcAft>
            </a:pPr>
            <a:r>
              <a:rPr sz="3400" b="1">
                <a:solidFill>
                  <a:srgbClr val="1B2330"/>
                </a:solidFill>
                <a:latin typeface="Microsoft JhengHei"/>
              </a:rPr>
              <a:t>但</a:t>
            </a:r>
            <a:r>
              <a:rPr sz="3400" b="1">
                <a:solidFill>
                  <a:srgbClr val="0B8F6E"/>
                </a:solidFill>
                <a:latin typeface="Microsoft JhengHei"/>
              </a:rPr>
              <a:t>「只有工程師能做系統」</a:t>
            </a:r>
            <a:r>
              <a:rPr sz="3400" b="1">
                <a:solidFill>
                  <a:srgbClr val="1B2330"/>
                </a:solidFill>
                <a:latin typeface="Microsoft JhengHei"/>
              </a:rPr>
              <a:t>的時代結束了。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記住兩個字：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讓品質可控，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harness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讓閉環跑得動。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Q &amp; A — 歡迎現場示範一次「講需求，AI 發 PR」。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