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t/>
            </a:r>
            <a:r>
              <a:rPr sz="1600" b="1">
                <a:solidFill>
                  <a:srgbClr val="6EE7B7"/>
                </a:solidFill>
                <a:latin typeface="Microsoft JhengHei"/>
              </a:rPr>
              <a:t>AI × NO-CODE 開發分享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4400" b="1">
                <a:solidFill>
                  <a:srgbClr val="E8EAF0"/>
                </a:solidFill>
                <a:latin typeface="Microsoft JhengHei"/>
              </a:rPr>
              <a:t>我用 AI、</a:t>
            </a:r>
            <a:r>
              <a:rPr sz="4400" b="1">
                <a:solidFill>
                  <a:srgbClr val="6EE7B7"/>
                </a:solidFill>
                <a:latin typeface="Microsoft JhengHei"/>
              </a:rPr>
              <a:t>0 行手寫程式碼</a:t>
            </a:r>
            <a:r>
              <a:rPr sz="4400" b="1">
                <a:solidFill>
                  <a:srgbClr val="E8EAF0"/>
                </a:solidFill>
                <a:latin typeface="Microsoft JhengHei"/>
              </a:rPr>
              <a:t>，</a:t>
            </a:r>
          </a:p>
          <a:p>
            <a:pPr algn="l">
              <a:lnSpc>
                <a:spcPct val="120000"/>
              </a:lnSpc>
              <a:spcAft>
                <a:spcPts val="2400"/>
              </a:spcAft>
            </a:pPr>
            <a:r>
              <a:t/>
            </a:r>
            <a:r>
              <a:rPr sz="4400" b="1">
                <a:solidFill>
                  <a:srgbClr val="E8EAF0"/>
                </a:solidFill>
                <a:latin typeface="Microsoft JhengHei"/>
              </a:rPr>
              <a:t>做出一套團購店 ERP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t/>
            </a:r>
            <a:r>
              <a:rPr sz="1800" b="0">
                <a:solidFill>
                  <a:srgbClr val="9AA3B5"/>
                </a:solidFill>
                <a:latin typeface="Microsoft JhengHei"/>
              </a:rPr>
              <a:t>不會寫程式也能當「產品負責人 + 驗收者」，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t/>
            </a:r>
            <a:r>
              <a:rPr sz="1800" b="0">
                <a:solidFill>
                  <a:srgbClr val="9AA3B5"/>
                </a:solidFill>
                <a:latin typeface="Microsoft JhengHei"/>
              </a:rPr>
              <a:t>把寫 code 這件事整個交給 AI（Claude Code）。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先看結果：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約 7 週</a:t>
            </a:r>
            <a:r>
              <a:rPr sz="3000" b="1">
                <a:solidFill>
                  <a:srgbClr val="E8EAF0"/>
                </a:solidFill>
                <a:latin typeface="Microsoft JhengHei"/>
              </a:rPr>
              <a:t>，從零到上線維運中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52,000+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行 TypeScript 程式碼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（每一行都是 AI 寫的）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54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個後台頁面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訂單／採購／撿貨／取貨／庫存／財務…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438+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個 Pull Request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全部由 AI 發、我驗收合併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311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支資料庫 migration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（Supabase / PostgreSQL）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42900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2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個前端 App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管理後台 + 會員端（LINE LIFF）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429000"/>
            <a:ext cx="3429000" cy="17830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3200" b="1">
                <a:solidFill>
                  <a:srgbClr val="6EE7B7"/>
                </a:solidFill>
                <a:latin typeface="Microsoft JhengHei"/>
              </a:rPr>
              <a:t>148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份文件：PRD、DB 設計、E2E 測試、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交接文件——也都是 AI 寫的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t/>
            </a:r>
            <a:r>
              <a:rPr sz="1500" b="0">
                <a:solidFill>
                  <a:srgbClr val="9AA3B5"/>
                </a:solidFill>
                <a:latin typeface="Microsoft JhengHei"/>
              </a:rPr>
              <a:t>場景：團購店 ERP — 總倉 1 + 門市 + 上萬 SKU，開團 → 下單 → 採購 → 進貨 → 撿貨 → 取貨全流程。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分工很簡單：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我出腦袋，AI 出手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2062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t/>
            </a:r>
            <a:r>
              <a:rPr sz="2000" b="1">
                <a:solidFill>
                  <a:srgbClr val="FBBF24"/>
                </a:solidFill>
                <a:latin typeface="Microsoft JhengHei"/>
              </a:rPr>
              <a:t>我做的事（不碰程式碼）</a:t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用白話描述需求、講業務流程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回答 AI 的提問、做取捨決策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實際打開系統點點看、驗收功能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把不對的地方用白話回報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645920"/>
            <a:ext cx="5212080" cy="42062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t/>
            </a:r>
            <a:r>
              <a:rPr sz="2000" b="1">
                <a:solidFill>
                  <a:srgbClr val="6EE7B7"/>
                </a:solidFill>
                <a:latin typeface="Microsoft JhengHei"/>
              </a:rPr>
              <a:t>AI 做的事（全部的「技術活」）</a:t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把需求整理成 PRD、設計資料庫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寫前後端程式碼、發 PR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寫測試、部署 DB migration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7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700" b="0">
                <a:solidFill>
                  <a:srgbClr val="E8EAF0"/>
                </a:solidFill>
                <a:latin typeface="Microsoft JhengHei"/>
              </a:rPr>
              <a:t>寫文件、交接給下一次對話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整個專案就是不斷重複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這一個循環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514600" cy="2011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800"/>
              </a:spcAft>
            </a:pPr>
            <a:r>
              <a:t/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1. 我講需求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用白話說想要什麼、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現在哪裡不順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64408" y="246888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t/>
            </a:r>
            <a:r>
              <a:rPr sz="2200" b="1">
                <a:solidFill>
                  <a:srgbClr val="6B7385"/>
                </a:solidFill>
                <a:latin typeface="Microsoft JhengHei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737360"/>
            <a:ext cx="2514600" cy="2011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800"/>
              </a:spcAft>
            </a:pPr>
            <a:r>
              <a:t/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2. AI 反問釐清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邊界條件、例外狀況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先講清楚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8" y="246888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t/>
            </a:r>
            <a:r>
              <a:rPr sz="2200" b="1">
                <a:solidFill>
                  <a:srgbClr val="6B7385"/>
                </a:solidFill>
                <a:latin typeface="Microsoft Jheng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2514600" cy="2011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800"/>
              </a:spcAft>
            </a:pPr>
            <a:r>
              <a:t/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3. AI 寫好發 PR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程式碼 + DB 變更 + 說明，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一包送上來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246888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t/>
            </a:r>
            <a:r>
              <a:rPr sz="2200" b="1">
                <a:solidFill>
                  <a:srgbClr val="6B7385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737360"/>
            <a:ext cx="2514600" cy="2011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800"/>
              </a:spcAft>
            </a:pPr>
            <a:r>
              <a:t/>
            </a:r>
            <a:r>
              <a:rPr sz="1700" b="1">
                <a:solidFill>
                  <a:srgbClr val="6EE7B7"/>
                </a:solidFill>
                <a:latin typeface="Microsoft JhengHei"/>
              </a:rPr>
              <a:t>4. 我驗收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實際操作系統，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9AA3B5"/>
                </a:solidFill>
                <a:latin typeface="Microsoft JhengHei"/>
              </a:rPr>
              <a:t>OK 就合併上線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t/>
            </a:r>
            <a:r>
              <a:rPr sz="1700" b="0">
                <a:solidFill>
                  <a:srgbClr val="FBBF24"/>
                </a:solidFill>
                <a:latin typeface="Microsoft JhengHei"/>
              </a:rPr>
              <a:t>↺ 不 OK？用白話回報，AI 修完再驗 — 一個功能通常一段對話就收掉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t/>
            </a:r>
            <a:r>
              <a:rPr sz="1600" b="0">
                <a:solidFill>
                  <a:srgbClr val="9AA3B5"/>
                </a:solidFill>
                <a:latin typeface="Microsoft JhengHei"/>
              </a:rPr>
              <a:t>438 個 PR = 這個循環跑了 438 次。每次循環小而快，錯了也容易退回。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第一步不是寫程式，是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陪 AI 把需求聊透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開工前先花時間跟 AI 對談，產出各模組 PRD（產品需求文件）：商品、會員、庫存、採購、銷售、取貨…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AI 根據 PRD 先設計好資料庫架構，再開始寫第一行程式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需求文件是用「我的語言」寫的 — 我看得懂、改得動，AI 照著做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/>
            </a:r>
            <a:r>
              <a:rPr sz="1600" b="0">
                <a:solidFill>
                  <a:srgbClr val="9AA3B5"/>
                </a:solidFill>
                <a:latin typeface="Microsoft JhengHei"/>
              </a:rPr>
              <a:t>心得：跟 AI 合作，前期把「要做什麼」講清楚，比急著要它寫 code 重要十倍。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我跟 AI 的對話，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就像在跟工程師同事講話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200"/>
              </a:spcAft>
            </a:pPr>
            <a:r>
              <a:t/>
            </a:r>
            <a:r>
              <a:rPr sz="1600" b="1">
                <a:solidFill>
                  <a:srgbClr val="E8EAF0"/>
                </a:solidFill>
                <a:latin typeface="Microsoft JhengHei"/>
              </a:rPr>
              <a:t>「取貨單幫我改成 80mm 熱感紙的小白單版型」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6B7385"/>
                </a:solidFill>
                <a:latin typeface="Microsoft JhengHei"/>
              </a:rPr>
              <a:t>→ AI 改好收據版型，發 PR #430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1069848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200"/>
              </a:spcAft>
            </a:pPr>
            <a:r>
              <a:t/>
            </a:r>
            <a:r>
              <a:rPr sz="1600" b="1">
                <a:solidFill>
                  <a:srgbClr val="E8EAF0"/>
                </a:solidFill>
                <a:latin typeface="Microsoft JhengHei"/>
              </a:rPr>
              <a:t>「列表的『載入中…』太陽春，全部改成轉圈圈」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6B7385"/>
                </a:solidFill>
                <a:latin typeface="Microsoft JhengHei"/>
              </a:rPr>
              <a:t>→ AI 一次改了 8 個列表頁的 loading 狀態，PR #427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200"/>
              </a:spcAft>
            </a:pPr>
            <a:r>
              <a:t/>
            </a:r>
            <a:r>
              <a:rPr sz="1600" b="1">
                <a:solidFill>
                  <a:srgbClr val="E8EAF0"/>
                </a:solidFill>
                <a:latin typeface="Microsoft JhengHei"/>
              </a:rPr>
              <a:t>「開團列表的『加單』按鈕太小，加粗加大」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6B7385"/>
                </a:solidFill>
                <a:latin typeface="Microsoft JhengHei"/>
              </a:rPr>
              <a:t>→ AI 調整樣式，PR #404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26280"/>
            <a:ext cx="1069848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200"/>
              </a:spcAft>
            </a:pPr>
            <a:r>
              <a:t/>
            </a:r>
            <a:r>
              <a:rPr sz="1600" b="1">
                <a:solidFill>
                  <a:srgbClr val="E8EAF0"/>
                </a:solidFill>
                <a:latin typeface="Microsoft JhengHei"/>
              </a:rPr>
              <a:t>「貨還沒到齊的訂單，已到的品項要可以先取」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300" b="0">
                <a:solidFill>
                  <a:srgbClr val="6B7385"/>
                </a:solidFill>
                <a:latin typeface="Microsoft JhengHei"/>
              </a:rPr>
              <a:t>→ AI 把取貨邏輯從「整單」改成「品項層級」，含 DB 變更，PR #423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/>
            </a:r>
            <a:r>
              <a:rPr sz="1500" b="0">
                <a:solidFill>
                  <a:srgbClr val="9AA3B5"/>
                </a:solidFill>
                <a:latin typeface="Microsoft JhengHei"/>
              </a:rPr>
              <a:t>從調一個按鈕大小，到改整套取貨邏輯，講的方式是一樣的：說清楚「我要什麼」就好。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關鍵技巧：讓 AI 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記住踩過的雷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CLAUDE.md 守則檔：AI 每次開工都會先讀。踩過一次的雷（例如部署資料庫的正確管道、改函式前要先查歷史版本）就寫進去，之後不再犯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交接文件（HANDOFF）：每段工作結束請 AI 寫下進度與待辦，下一段對話無縫接手</a:t>
            </a:r>
          </a:p>
          <a:p>
            <a:pPr algn="l">
              <a:lnSpc>
                <a:spcPct val="125000"/>
              </a:lnSpc>
              <a:spcAft>
                <a:spcPts val="1800"/>
              </a:spcAft>
            </a:pPr>
            <a:r>
              <a:rPr sz="19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900" b="0">
                <a:solidFill>
                  <a:srgbClr val="E8EAF0"/>
                </a:solidFill>
                <a:latin typeface="Microsoft JhengHei"/>
              </a:rPr>
              <a:t>測試腳本：請 AI 建好 14 套 E2E 測試情境 + 一鍵重置測試資料的指令，驗收有依據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/>
            </a:r>
            <a:r>
              <a:rPr sz="1600" b="0">
                <a:solidFill>
                  <a:srgbClr val="9AA3B5"/>
                </a:solidFill>
                <a:latin typeface="Microsoft JhengHei"/>
              </a:rPr>
              <a:t>AI 沒有長期記憶，但「文件」有。把經驗寫成文件，就是在幫 AI 累積資歷。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一路下來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學到的事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t/>
            </a:r>
            <a:r>
              <a:rPr sz="2000" b="1">
                <a:solidFill>
                  <a:srgbClr val="FBBF24"/>
                </a:solidFill>
                <a:latin typeface="Microsoft JhengHei"/>
              </a:rPr>
              <a:t>有用的習慣</a:t>
            </a: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一次只要一個功能，小步快跑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需求講「為什麼」，不只講「做什麼」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每個 PR 都親手操作驗收，不盲目合併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出錯時描述「現象」，讓 AI 自己查原因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645920"/>
            <a:ext cx="5212080" cy="43891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t/>
            </a:r>
            <a:r>
              <a:rPr sz="2000" b="1">
                <a:solidFill>
                  <a:srgbClr val="6EE7B7"/>
                </a:solidFill>
                <a:latin typeface="Microsoft JhengHei"/>
              </a:rPr>
              <a:t>要注意的坑</a:t>
            </a: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需求講得模糊，AI 會自己腦補 — 要靠驗收抓出來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同個地方改多次，要提醒 AI 別蓋掉之前的修正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1600" b="1">
                <a:solidFill>
                  <a:srgbClr val="6EE7B7"/>
                </a:solidFill>
                <a:latin typeface="Microsoft JhengHei"/>
              </a:rPr>
              <a:t>›  </a:t>
            </a:r>
            <a:r>
              <a:rPr sz="1600" b="0">
                <a:solidFill>
                  <a:srgbClr val="E8EAF0"/>
                </a:solidFill>
                <a:latin typeface="Microsoft JhengHei"/>
              </a:rPr>
              <a:t>AI 說「做完了」≠ 真的好了，驗收不能省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8EAF0"/>
                </a:solidFill>
                <a:latin typeface="Microsoft JhengHei"/>
              </a:rPr>
              <a:t>如果你也想試：</a:t>
            </a:r>
            <a:r>
              <a:rPr sz="3000" b="1">
                <a:solidFill>
                  <a:srgbClr val="6EE7B7"/>
                </a:solidFill>
                <a:latin typeface="Microsoft JhengHei"/>
              </a:rPr>
              <a:t>三個建議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11430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1900" b="1">
                <a:solidFill>
                  <a:srgbClr val="E8EAF0"/>
                </a:solidFill>
                <a:latin typeface="Microsoft JhengHei"/>
              </a:rPr>
              <a:t>1. 把自己當 PM，不是工程師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500" b="0">
                <a:solidFill>
                  <a:srgbClr val="9AA3B5"/>
                </a:solidFill>
                <a:latin typeface="Microsoft JhengHei"/>
              </a:rPr>
              <a:t>你的價值是懂業務、會驗收，程式碼交給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80360"/>
            <a:ext cx="10698480" cy="11430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1900" b="1">
                <a:solidFill>
                  <a:srgbClr val="E8EAF0"/>
                </a:solidFill>
                <a:latin typeface="Microsoft JhengHei"/>
              </a:rPr>
              <a:t>2. 從一個小流程開始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500" b="0">
                <a:solidFill>
                  <a:srgbClr val="9AA3B5"/>
                </a:solidFill>
                <a:latin typeface="Microsoft JhengHei"/>
              </a:rPr>
              <a:t>先做一張表單、一個報表，跑順「需求 → PR → 驗收」的循環再放大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10698480" cy="11430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A32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l">
              <a:spcAft>
                <a:spcPts val="400"/>
              </a:spcAft>
            </a:pPr>
            <a:r>
              <a:t/>
            </a:r>
            <a:r>
              <a:rPr sz="1900" b="1">
                <a:solidFill>
                  <a:srgbClr val="E8EAF0"/>
                </a:solidFill>
                <a:latin typeface="Microsoft JhengHei"/>
              </a:rPr>
              <a:t>3. 經驗寫成文件餵回去</a:t>
            </a:r>
          </a:p>
          <a:p>
            <a:pPr algn="l">
              <a:spcAft>
                <a:spcPts val="0"/>
              </a:spcAft>
            </a:pPr>
            <a:r>
              <a:t/>
            </a:r>
            <a:r>
              <a:rPr sz="1500" b="0">
                <a:solidFill>
                  <a:srgbClr val="9AA3B5"/>
                </a:solidFill>
                <a:latin typeface="Microsoft JhengHei"/>
              </a:rPr>
              <a:t>守則檔 + 交接文件，是讓 AI 從「臨時工」變「老員工」的關鍵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t/>
            </a:r>
            <a:r>
              <a:rPr sz="1600" b="0">
                <a:solidFill>
                  <a:srgbClr val="9AA3B5"/>
                </a:solidFill>
                <a:latin typeface="Microsoft JhengHei"/>
              </a:rPr>
              <a:t>門檻不是會不會寫程式，是能不能把需求講清楚、願不願意認真驗收。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</a:pPr>
            <a:r>
              <a:t/>
            </a:r>
            <a:r>
              <a:rPr sz="1600" b="1">
                <a:solidFill>
                  <a:srgbClr val="6EE7B7"/>
                </a:solidFill>
                <a:latin typeface="Microsoft JhengHei"/>
              </a:rPr>
              <a:t>TAKEAWAY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t/>
            </a:r>
            <a:r>
              <a:rPr sz="3600" b="1">
                <a:solidFill>
                  <a:srgbClr val="E8EAF0"/>
                </a:solidFill>
                <a:latin typeface="Microsoft JhengHei"/>
              </a:rPr>
              <a:t>寫程式的時代沒有結束，</a:t>
            </a:r>
          </a:p>
          <a:p>
            <a:pPr algn="l">
              <a:lnSpc>
                <a:spcPct val="125000"/>
              </a:lnSpc>
              <a:spcAft>
                <a:spcPts val="2400"/>
              </a:spcAft>
            </a:pPr>
            <a:r>
              <a:rPr sz="3600" b="1">
                <a:solidFill>
                  <a:srgbClr val="E8EAF0"/>
                </a:solidFill>
                <a:latin typeface="Microsoft JhengHei"/>
              </a:rPr>
              <a:t>但</a:t>
            </a:r>
            <a:r>
              <a:rPr sz="3600" b="1">
                <a:solidFill>
                  <a:srgbClr val="6EE7B7"/>
                </a:solidFill>
                <a:latin typeface="Microsoft JhengHei"/>
              </a:rPr>
              <a:t>「只有工程師能做系統」</a:t>
            </a:r>
            <a:r>
              <a:rPr sz="3600" b="1">
                <a:solidFill>
                  <a:srgbClr val="E8EAF0"/>
                </a:solidFill>
                <a:latin typeface="Microsoft JhengHei"/>
              </a:rPr>
              <a:t>的時代結束了。</a:t>
            </a:r>
          </a:p>
          <a:p>
            <a:pPr algn="l">
              <a:spcAft>
                <a:spcPts val="600"/>
              </a:spcAft>
            </a:pPr>
            <a:r>
              <a:t/>
            </a:r>
            <a:r>
              <a:rPr sz="1800" b="0">
                <a:solidFill>
                  <a:srgbClr val="9AA3B5"/>
                </a:solidFill>
                <a:latin typeface="Microsoft JhengHei"/>
              </a:rPr>
              <a:t>Q &amp; A — 歡迎現場示範一次「講需求 → AI 發 PR」給大家看。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